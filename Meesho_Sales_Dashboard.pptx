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 Q1</c:v>
                  </c:pt>
                  <c:pt idx="1">
                    <c:v>2019 Q2</c:v>
                  </c:pt>
                  <c:pt idx="2">
                    <c:v>2019 Q3</c:v>
                  </c:pt>
                  <c:pt idx="3">
                    <c:v>2019 Q4</c:v>
                  </c:pt>
                  <c:pt idx="4">
                    <c:v>2020 Q1</c:v>
                  </c:pt>
                  <c:pt idx="5">
                    <c:v>2020 Q2</c:v>
                  </c:pt>
                  <c:pt idx="6">
                    <c:v>2020 Q3</c:v>
                  </c:pt>
                  <c:pt idx="7">
                    <c:v>2020 Q4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90.3</c:v>
                </c:pt>
                <c:pt idx="1">
                  <c:v>130.1</c:v>
                </c:pt>
                <c:pt idx="2">
                  <c:v>143.8</c:v>
                </c:pt>
                <c:pt idx="3">
                  <c:v>200.5</c:v>
                </c:pt>
                <c:pt idx="4">
                  <c:v>171.1</c:v>
                </c:pt>
                <c:pt idx="5">
                  <c:v>186.8</c:v>
                </c:pt>
                <c:pt idx="6">
                  <c:v>257.2</c:v>
                </c:pt>
                <c:pt idx="7">
                  <c:v>386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522.4</c:v>
                </c:pt>
                <c:pt idx="1">
                  <c:v>450.2</c:v>
                </c:pt>
                <c:pt idx="2">
                  <c:v>341</c:v>
                </c:pt>
                <c:pt idx="3">
                  <c:v>252.1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E0A91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67.9</c:v>
                </c:pt>
                <c:pt idx="1">
                  <c:v>53.4</c:v>
                </c:pt>
                <c:pt idx="2">
                  <c:v>27.5</c:v>
                </c:pt>
                <c:pt idx="3">
                  <c:v>26.6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21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4212E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24212E"/>
                </a:solidFill>
                <a:latin typeface="+mn-lt"/>
              </a:rPr>
              <a:t>Profit margin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Technology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19.2</c:v>
                </c:pt>
                <c:pt idx="2">
                  <c:v>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Copiers</c:v>
                  </c:pt>
                  <c:pt idx="1">
                    <c:v>Accessories</c:v>
                  </c:pt>
                  <c:pt idx="2">
                    <c:v>Phones</c:v>
                  </c:pt>
                  <c:pt idx="3">
                    <c:v>Paper</c:v>
                  </c:pt>
                  <c:pt idx="4">
                    <c:v>Binders</c:v>
                  </c:pt>
                  <c:pt idx="5">
                    <c:v>Storage</c:v>
                  </c:pt>
                  <c:pt idx="6">
                    <c:v>Chairs</c:v>
                  </c:pt>
                  <c:pt idx="7">
                    <c:v>Appliances</c:v>
                  </c:pt>
                  <c:pt idx="8">
                    <c:v>Furnishings</c:v>
                  </c:pt>
                  <c:pt idx="9">
                    <c:v>Art</c:v>
                  </c:pt>
                  <c:pt idx="10">
                    <c:v>Envelopes</c:v>
                  </c:pt>
                  <c:pt idx="11">
                    <c:v>Labels</c:v>
                  </c:pt>
                  <c:pt idx="12">
                    <c:v>Fasteners</c:v>
                  </c:pt>
                  <c:pt idx="13">
                    <c:v>Machines</c:v>
                  </c:pt>
                  <c:pt idx="14">
                    <c:v>Bookcases</c:v>
                  </c:pt>
                  <c:pt idx="15">
                    <c:v>Supplies</c:v>
                  </c:pt>
                  <c:pt idx="16">
                    <c:v>Tables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42.8</c:v>
                </c:pt>
                <c:pt idx="1">
                  <c:v>25.3</c:v>
                </c:pt>
                <c:pt idx="2">
                  <c:v>22.3</c:v>
                </c:pt>
                <c:pt idx="3">
                  <c:v>21.1</c:v>
                </c:pt>
                <c:pt idx="4">
                  <c:v>17.9</c:v>
                </c:pt>
                <c:pt idx="5">
                  <c:v>13.6</c:v>
                </c:pt>
                <c:pt idx="6">
                  <c:v>13.4</c:v>
                </c:pt>
                <c:pt idx="7">
                  <c:v>13.2</c:v>
                </c:pt>
                <c:pt idx="8">
                  <c:v>8</c:v>
                </c:pt>
                <c:pt idx="9">
                  <c:v>3.6</c:v>
                </c:pt>
                <c:pt idx="10">
                  <c:v>3.5</c:v>
                </c:pt>
                <c:pt idx="11">
                  <c:v>2.9</c:v>
                </c:pt>
                <c:pt idx="12">
                  <c:v>0.6</c:v>
                </c:pt>
                <c:pt idx="13">
                  <c:v>0</c:v>
                </c:pt>
                <c:pt idx="14">
                  <c:v>-0.3</c:v>
                </c:pt>
                <c:pt idx="15">
                  <c:v>-1.7</c:v>
                </c:pt>
                <c:pt idx="16">
                  <c:v>-11.1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3A0B47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3A0B47"/>
                </a:solidFill>
                <a:latin typeface="+mn-lt"/>
              </a:rPr>
              <a:t>Customer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179E"/>
              </a:solidFill>
              <a:effectLst/>
            </c:spPr>
          </c:dPt>
          <c:dPt>
            <c:idx val="1"/>
            <c:bubble3D val="0"/>
            <c:spPr>
              <a:solidFill>
                <a:srgbClr val="7B2D8E"/>
              </a:solidFill>
              <a:effectLst/>
            </c:spPr>
          </c:dPt>
          <c:dPt>
            <c:idx val="2"/>
            <c:bubble3D val="0"/>
            <c:spPr>
              <a:solidFill>
                <a:srgbClr val="E0A91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753</c:v>
                </c:pt>
                <c:pt idx="1">
                  <c:v>509.7</c:v>
                </c:pt>
                <c:pt idx="2">
                  <c:v>303.1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421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3A0B47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3A0B47"/>
                </a:solidFill>
                <a:latin typeface="+mn-lt"/>
              </a:rPr>
              <a:t>Payment mode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179E"/>
              </a:solidFill>
              <a:effectLst/>
            </c:spPr>
          </c:dPt>
          <c:dPt>
            <c:idx val="1"/>
            <c:bubble3D val="0"/>
            <c:spPr>
              <a:solidFill>
                <a:srgbClr val="7B2D8E"/>
              </a:solidFill>
              <a:effectLst/>
            </c:spPr>
          </c:dPt>
          <c:dPt>
            <c:idx val="2"/>
            <c:bubble3D val="0"/>
            <c:spPr>
              <a:solidFill>
                <a:srgbClr val="E0A91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COD</c:v>
                </c:pt>
                <c:pt idx="1">
                  <c:v>Online</c:v>
                </c:pt>
                <c:pt idx="2">
                  <c:v>Cards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667.4</c:v>
                </c:pt>
                <c:pt idx="1">
                  <c:v>554</c:v>
                </c:pt>
                <c:pt idx="2">
                  <c:v>344.4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421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17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B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B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BC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</c:v>
                </c:pt>
                <c:pt idx="1">
                  <c:v>2.8</c:v>
                </c:pt>
                <c:pt idx="2">
                  <c:v>2.2</c:v>
                </c:pt>
                <c:pt idx="3">
                  <c:v>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B5179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California</c:v>
                  </c:pt>
                  <c:pt idx="1">
                    <c:v>New York</c:v>
                  </c:pt>
                  <c:pt idx="2">
                    <c:v>Texas</c:v>
                  </c:pt>
                  <c:pt idx="3">
                    <c:v>Washington</c:v>
                  </c:pt>
                  <c:pt idx="4">
                    <c:v>Pennsylvania</c:v>
                  </c:pt>
                  <c:pt idx="5">
                    <c:v>Ohio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335.2</c:v>
                </c:pt>
                <c:pt idx="1">
                  <c:v>186.7</c:v>
                </c:pt>
                <c:pt idx="2">
                  <c:v>116.3</c:v>
                </c:pt>
                <c:pt idx="3">
                  <c:v>93</c:v>
                </c:pt>
                <c:pt idx="4">
                  <c:v>82.4</c:v>
                </c:pt>
                <c:pt idx="5">
                  <c:v>68.2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4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0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Sales Performance  |  2019–2020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9509760" y="3291840"/>
            <a:ext cx="4023360" cy="402336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Brand"/>
          <p:cNvSpPr txBox="1"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eesho</a:t>
            </a:r>
            <a:endParaRPr lang="en-US" sz="6600" dirty="0"/>
          </a:p>
        </p:txBody>
      </p:sp>
      <p:sp>
        <p:nvSpPr>
          <p:cNvPr id="5" name="Title"/>
          <p:cNvSpPr txBox="1"/>
          <p:nvPr/>
        </p:nvSpPr>
        <p:spPr>
          <a:xfrm>
            <a:off x="73152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6" name="Subtitle"/>
          <p:cNvSpPr txBox="1"/>
          <p:nvPr/>
        </p:nvSpPr>
        <p:spPr>
          <a:xfrm>
            <a:off x="731520" y="3291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Sales, profit, regions, categories, customers and returns, January 2019 – December 2020</a:t>
            </a:r>
            <a:endParaRPr lang="en-US" sz="1800" dirty="0"/>
          </a:p>
        </p:txBody>
      </p:sp>
      <p:sp>
        <p:nvSpPr>
          <p:cNvPr id="7" name="Author"/>
          <p:cNvSpPr txBox="1"/>
          <p:nvPr/>
        </p:nvSpPr>
        <p:spPr>
          <a:xfrm>
            <a:off x="731520" y="4983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Atul Mishra</a:t>
            </a:r>
            <a:endParaRPr lang="en-US" sz="3000" dirty="0"/>
          </a:p>
        </p:txBody>
      </p:sp>
      <p:sp>
        <p:nvSpPr>
          <p:cNvPr id="8" name="AuthorRole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Final-year B.Tech CSE  |  Power BI Internship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Two years of order data from the Power BI dashboard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Total Sales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$1.57M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across 5,901 order lines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64992" y="182880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Total Profit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$175K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11.2% overall margin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81344" y="182880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Units Sold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22,317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items shipped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997696" y="182880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26296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Orders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3,003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773 unique customers</a:t>
            </a:r>
            <a:endParaRPr lang="en-US" sz="1400" dirty="0"/>
          </a:p>
        </p:txBody>
      </p:sp>
      <p:sp>
        <p:nvSpPr>
          <p:cNvPr id="20" name="Summary"/>
          <p:cNvSpPr txBox="1"/>
          <p:nvPr/>
        </p:nvSpPr>
        <p:spPr>
          <a:xfrm>
            <a:off x="548640" y="44805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 grew 77% from 2019 to 2020, but profit grew only 14%, so the margin slipped from 14.5% to 9.3%.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Technology is the profit engine; Furniture earns almost nothing on large sales.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West leads every metric but also has the highest return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nearly doubled in 2020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Quarterly sales ($K); Q4 is the peak in both years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595360" y="1783080"/>
            <a:ext cx="30449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+77%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growth, 2019 → 2020 ($565K → $1.00M)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8595360" y="4023360"/>
            <a:ext cx="30449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+14%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Profit growth over the same period, far behind sales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is the strongest region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Sales and profit by region ($K)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863840" y="1783080"/>
            <a:ext cx="37764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8745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056132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margin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863840" y="2862072"/>
            <a:ext cx="37764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9535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East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29535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0561320" y="2953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margin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863840" y="3941064"/>
            <a:ext cx="37764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403250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Central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40325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10561320" y="40325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margin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7863840" y="5020056"/>
            <a:ext cx="37764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511149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South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51114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10561320" y="511149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margin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earns, Furniture does not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Profit margin by category, with sales and profit in $K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766560" y="1783080"/>
            <a:ext cx="48737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95160" y="1892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Office Supplies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350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 $644K  |  Profit $75K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766560" y="3246120"/>
            <a:ext cx="48737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3355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Technology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813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 $471K  |  Profit $91K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766560" y="4709160"/>
            <a:ext cx="48737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4818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Furniture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5276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 $452K  |  Profit $10K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sub-categories lose money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Profit by sub-category ($K), sorted high to low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778240" y="1783080"/>
            <a:ext cx="2862072" cy="4206240"/>
          </a:xfrm>
          <a:prstGeom prst="roundRect">
            <a:avLst>
              <a:gd name="adj" fmla="val 38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068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list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46888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Tables: –$11.1K on $119K sales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Supplies: –$1.7K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Bookcases: –$0.3K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Copiers lead with $42.8K profit on only $60K sales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 and how they pay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Share of sales by customer segment and payment mode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7830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Consumers drive 48% of sales. Cash on delivery is the most used payment mode and earns the best margin (12.3%); online payments earn the lowest (9.8%).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returns over 3x more than other regions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Share of order lines flagged as returned, by region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772400" y="1783080"/>
            <a:ext cx="386791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74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738360" y="1874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lines returned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772400" y="3246120"/>
            <a:ext cx="386791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73836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return rate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772400" y="4709160"/>
            <a:ext cx="386791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$88K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73836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value returned (5.6% of total)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California alone is 21% of sales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Top six states by sales ($K)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046720" y="1783080"/>
            <a:ext cx="3593592" cy="420624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4688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California and New York together make up 33% of sales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six states cover 56% of sales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leaders sit in the West and East regions, the two strongest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next steps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7315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4D1A5C"/>
          </a:solidFill>
          <a:ln w="12700">
            <a:solidFill>
              <a:srgbClr val="4D1A5C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margin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BD9F0"/>
                </a:solidFill>
              </a:rPr>
              <a:t>Sales grew 77% but margin fell to 9.3%. Review discounts and costs behind the 2020 growth.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4D1A5C"/>
          </a:solidFill>
          <a:ln w="12700">
            <a:solidFill>
              <a:srgbClr val="4D1A5C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Furniture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BD9F0"/>
                </a:solidFill>
              </a:rPr>
              <a:t>2.2% margin and loss-making Tables. Reprice or reduce the weakest lines.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731520" y="3931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4D1A5C"/>
          </a:solidFill>
          <a:ln w="12700">
            <a:solidFill>
              <a:srgbClr val="4D1A5C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1005840" y="4206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West returns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983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BD9F0"/>
                </a:solidFill>
              </a:rPr>
              <a:t>9.9% return rate versus about 2–3% elsewhere. Investigate product quality and delivery.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17920" y="3931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4D1A5C"/>
          </a:solidFill>
          <a:ln w="12700">
            <a:solidFill>
              <a:srgbClr val="4D1A5C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Technology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983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BD9F0"/>
                </a:solidFill>
              </a:rPr>
              <a:t>19.2% margin. Push Copiers, Accessories and Phones, the strongest profit earners.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esho Sales">
  <a:themeElements>
    <a:clrScheme name="Meesho Sales">
      <a:dk1>
        <a:srgbClr val="24212E"/>
      </a:dk1>
      <a:lt1>
        <a:srgbClr val="FFFFFF"/>
      </a:lt1>
      <a:dk2>
        <a:srgbClr val="3A0B47"/>
      </a:dk2>
      <a:lt2>
        <a:srgbClr val="F6EEF8"/>
      </a:lt2>
      <a:accent1>
        <a:srgbClr val="B5179E"/>
      </a:accent1>
      <a:accent2>
        <a:srgbClr val="E0A913"/>
      </a:accent2>
      <a:accent3>
        <a:srgbClr val="7B2D8E"/>
      </a:accent3>
      <a:accent4>
        <a:srgbClr val="D98BC9"/>
      </a:accent4>
      <a:accent5>
        <a:srgbClr val="6B6578"/>
      </a:accent5>
      <a:accent6>
        <a:srgbClr val="2E9E6B"/>
      </a:accent6>
      <a:hlink>
        <a:srgbClr val="B5179E"/>
      </a:hlink>
      <a:folHlink>
        <a:srgbClr val="7B2D8E"/>
      </a:folHlink>
    </a:clrScheme>
    <a:fontScheme name="Meesho Sal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Meesho Sales Performance Dashboard</dc:title>
  <dc:subject>PptxGenJS Presentation</dc:subject>
  <dc:creator>PptxGenJS</dc:creator>
  <cp:lastModifiedBy>PptxGenJS</cp:lastModifiedBy>
  <cp:revision>1</cp:revision>
  <dcterms:created xsi:type="dcterms:W3CDTF">2026-10-16T23:55:58Z</dcterms:created>
  <dcterms:modified xsi:type="dcterms:W3CDTF">2026-10-16T23:55:58Z</dcterms:modified>
</cp:coreProperties>
</file>